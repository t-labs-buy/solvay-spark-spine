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199600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1920"/>
            <a:ext cx="12192000" cy="2960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45" b="1">
                <a:solidFill>
                  <a:srgbClr val="1E2530"/>
                </a:solidFill>
                <a:latin typeface="Arial"/>
              </a:rPr>
              <a:t>Solvay Spark Spine — Application stack on SAP BTP</a:t>
            </a:r>
          </a:p>
        </p:txBody>
      </p:sp>
      <p:sp>
        <p:nvSpPr>
          <p:cNvPr id="3" name="Layer: Experience"/>
          <p:cNvSpPr/>
          <p:nvPr/>
        </p:nvSpPr>
        <p:spPr>
          <a:xfrm>
            <a:off x="522514" y="870857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F8ECE8"/>
          </a:solidFill>
          <a:ln w="11321">
            <a:solidFill>
              <a:srgbClr val="B57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60" y="1062446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7A3418"/>
                </a:solidFill>
                <a:latin typeface="Arial"/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1428206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9A4A2A"/>
                </a:solidFill>
                <a:latin typeface="Arial"/>
              </a:rPr>
              <a:t>Where analysts and admins work</a:t>
            </a:r>
          </a:p>
        </p:txBody>
      </p:sp>
      <p:sp>
        <p:nvSpPr>
          <p:cNvPr id="6" name="Layer: API &amp; guardrails"/>
          <p:cNvSpPr/>
          <p:nvPr/>
        </p:nvSpPr>
        <p:spPr>
          <a:xfrm>
            <a:off x="522514" y="3500846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EEF1F5"/>
          </a:solidFill>
          <a:ln w="11321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360" y="3692434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2A3646"/>
                </a:solidFill>
                <a:latin typeface="Arial"/>
              </a:rPr>
              <a:t>API &amp;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60" y="4058194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4A5668"/>
                </a:solidFill>
                <a:latin typeface="Arial"/>
              </a:rPr>
              <a:t>Expose the app and keep it on subject</a:t>
            </a:r>
          </a:p>
        </p:txBody>
      </p:sp>
      <p:sp>
        <p:nvSpPr>
          <p:cNvPr id="9" name="Layer: AI agents"/>
          <p:cNvSpPr/>
          <p:nvPr/>
        </p:nvSpPr>
        <p:spPr>
          <a:xfrm>
            <a:off x="522514" y="6130834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EEEDFB"/>
          </a:solidFill>
          <a:ln w="11321">
            <a:solidFill>
              <a:srgbClr val="8B8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360" y="6322423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3B348F"/>
                </a:solidFill>
                <a:latin typeface="Arial"/>
              </a:rPr>
              <a:t>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0" y="6688183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5650B5"/>
                </a:solidFill>
                <a:latin typeface="Arial"/>
              </a:rPr>
              <a:t>Investigate, compare, and analyse</a:t>
            </a:r>
          </a:p>
        </p:txBody>
      </p:sp>
      <p:sp>
        <p:nvSpPr>
          <p:cNvPr id="12" name="Layer: Knowledge engines"/>
          <p:cNvSpPr/>
          <p:nvPr/>
        </p:nvSpPr>
        <p:spPr>
          <a:xfrm>
            <a:off x="522514" y="8760823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E5F3EE"/>
          </a:solidFill>
          <a:ln w="11321">
            <a:solidFill>
              <a:srgbClr val="5FA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360" y="8952411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1E5E47"/>
                </a:solidFill>
                <a:latin typeface="Arial"/>
              </a:rPr>
              <a:t>Knowledge engines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60" y="9318171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2E7A5E"/>
                </a:solidFill>
                <a:latin typeface="Arial"/>
              </a:rPr>
              <a:t>Turn documents into answers and connections</a:t>
            </a:r>
          </a:p>
        </p:txBody>
      </p:sp>
      <p:sp>
        <p:nvSpPr>
          <p:cNvPr id="15" name="Layer: Models"/>
          <p:cNvSpPr/>
          <p:nvPr/>
        </p:nvSpPr>
        <p:spPr>
          <a:xfrm>
            <a:off x="522514" y="11390811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E8F0FB"/>
          </a:solidFill>
          <a:ln w="11321">
            <a:solidFill>
              <a:srgbClr val="6E9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360" y="11582400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1F4A86"/>
                </a:solidFill>
                <a:latin typeface="Arial"/>
              </a:rPr>
              <a:t>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60" y="11948160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2F5FA3"/>
                </a:solidFill>
                <a:latin typeface="Arial"/>
              </a:rPr>
              <a:t>Reason, judge, and embed</a:t>
            </a:r>
          </a:p>
        </p:txBody>
      </p:sp>
      <p:sp>
        <p:nvSpPr>
          <p:cNvPr id="18" name="Layer: Data &amp; memory"/>
          <p:cNvSpPr/>
          <p:nvPr/>
        </p:nvSpPr>
        <p:spPr>
          <a:xfrm>
            <a:off x="522514" y="14020800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FBF3E2"/>
          </a:solidFill>
          <a:ln w="11321">
            <a:solidFill>
              <a:srgbClr val="C99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360" y="14212389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6E4A0E"/>
                </a:solidFill>
                <a:latin typeface="Arial"/>
              </a:rPr>
              <a:t>Data &amp;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360" y="14578149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8A6018"/>
                </a:solidFill>
                <a:latin typeface="Arial"/>
              </a:rPr>
              <a:t>Keep the corpus, the graph, and what agents learn</a:t>
            </a:r>
          </a:p>
        </p:txBody>
      </p:sp>
      <p:sp>
        <p:nvSpPr>
          <p:cNvPr id="21" name="Layer: Quality &amp; ops"/>
          <p:cNvSpPr/>
          <p:nvPr/>
        </p:nvSpPr>
        <p:spPr>
          <a:xfrm>
            <a:off x="522514" y="16650789"/>
            <a:ext cx="11146971" cy="2246811"/>
          </a:xfrm>
          <a:prstGeom prst="roundRect">
            <a:avLst>
              <a:gd name="adj" fmla="val 10077"/>
            </a:avLst>
          </a:prstGeom>
          <a:solidFill>
            <a:srgbClr val="F1EEE8"/>
          </a:solidFill>
          <a:ln w="11321">
            <a:solidFill>
              <a:srgbClr val="A39C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360" y="16842377"/>
            <a:ext cx="10241280" cy="3135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51" b="1">
                <a:solidFill>
                  <a:srgbClr val="3F3A33"/>
                </a:solidFill>
                <a:latin typeface="Arial"/>
              </a:rPr>
              <a:t>Quality &amp;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360" y="17208137"/>
            <a:ext cx="10241280" cy="261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0">
                <a:solidFill>
                  <a:srgbClr val="5E574D"/>
                </a:solidFill>
                <a:latin typeface="Arial"/>
              </a:rPr>
              <a:t>Measure, trace, and deliver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6000" y="3152503"/>
            <a:ext cx="0" cy="313508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96000" y="5782491"/>
            <a:ext cx="0" cy="313509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8412480"/>
            <a:ext cx="0" cy="313509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6000" y="11042469"/>
            <a:ext cx="0" cy="313508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6000" y="13672457"/>
            <a:ext cx="0" cy="313509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6000" y="16302446"/>
            <a:ext cx="0" cy="313508"/>
          </a:xfrm>
          <a:prstGeom prst="line">
            <a:avLst/>
          </a:prstGeom>
          <a:ln w="14804">
            <a:solidFill>
              <a:srgbClr val="56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rd: Web UI"/>
          <p:cNvSpPr/>
          <p:nvPr/>
        </p:nvSpPr>
        <p:spPr>
          <a:xfrm>
            <a:off x="975360" y="1846217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Web UI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React · HTML5 Repo + Approuter</a:t>
            </a:r>
          </a:p>
        </p:txBody>
      </p:sp>
      <p:sp>
        <p:nvSpPr>
          <p:cNvPr id="31" name="Card: Accounts &amp; roles"/>
          <p:cNvSpPr/>
          <p:nvPr/>
        </p:nvSpPr>
        <p:spPr>
          <a:xfrm>
            <a:off x="4516846" y="1846217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Accounts &amp; roles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SAP IAS + XSUAA · SSO</a:t>
            </a:r>
          </a:p>
        </p:txBody>
      </p:sp>
      <p:sp>
        <p:nvSpPr>
          <p:cNvPr id="32" name="Card: Admin dashboard"/>
          <p:cNvSpPr/>
          <p:nvPr/>
        </p:nvSpPr>
        <p:spPr>
          <a:xfrm>
            <a:off x="8058331" y="1846217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Admin dashboard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Usage · cost · role collections</a:t>
            </a:r>
          </a:p>
        </p:txBody>
      </p:sp>
      <p:sp>
        <p:nvSpPr>
          <p:cNvPr id="33" name="Card: API"/>
          <p:cNvSpPr/>
          <p:nvPr/>
        </p:nvSpPr>
        <p:spPr>
          <a:xfrm>
            <a:off x="975360" y="4476206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API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FastAPI on Kyma · REST + SSE</a:t>
            </a:r>
          </a:p>
        </p:txBody>
      </p:sp>
      <p:sp>
        <p:nvSpPr>
          <p:cNvPr id="34" name="Card: Scope check"/>
          <p:cNvSpPr/>
          <p:nvPr/>
        </p:nvSpPr>
        <p:spPr>
          <a:xfrm>
            <a:off x="4516846" y="4476206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Scope check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Claude Haiku 4.5 · in or out</a:t>
            </a:r>
          </a:p>
        </p:txBody>
      </p:sp>
      <p:sp>
        <p:nvSpPr>
          <p:cNvPr id="35" name="Card: Contact redaction"/>
          <p:cNvSpPr/>
          <p:nvPr/>
        </p:nvSpPr>
        <p:spPr>
          <a:xfrm>
            <a:off x="8058331" y="4476206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Contact redaction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Orchestration data masking</a:t>
            </a:r>
          </a:p>
        </p:txBody>
      </p:sp>
      <p:sp>
        <p:nvSpPr>
          <p:cNvPr id="36" name="Card: Evidence Agent"/>
          <p:cNvSpPr/>
          <p:nvPr/>
        </p:nvSpPr>
        <p:spPr>
          <a:xfrm>
            <a:off x="975360" y="7106194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Evidence Agent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Cited, verified claims</a:t>
            </a:r>
          </a:p>
        </p:txBody>
      </p:sp>
      <p:sp>
        <p:nvSpPr>
          <p:cNvPr id="37" name="Card: Fit-Gap Copilot"/>
          <p:cNvSpPr/>
          <p:nvPr/>
        </p:nvSpPr>
        <p:spPr>
          <a:xfrm>
            <a:off x="4516846" y="7106194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Fit-Gap Copilot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Country As-Is vs template</a:t>
            </a:r>
          </a:p>
        </p:txBody>
      </p:sp>
      <p:sp>
        <p:nvSpPr>
          <p:cNvPr id="38" name="Card: InsightLens"/>
          <p:cNvSpPr/>
          <p:nvPr/>
        </p:nvSpPr>
        <p:spPr>
          <a:xfrm>
            <a:off x="8058331" y="7106194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InsightLens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Per-process fit-gap</a:t>
            </a:r>
          </a:p>
        </p:txBody>
      </p:sp>
      <p:sp>
        <p:nvSpPr>
          <p:cNvPr id="39" name="Card: Ingestion"/>
          <p:cNvSpPr/>
          <p:nvPr/>
        </p:nvSpPr>
        <p:spPr>
          <a:xfrm>
            <a:off x="975360" y="9736183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Ingestion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Docling + OCR on Kyma</a:t>
            </a:r>
          </a:p>
        </p:txBody>
      </p:sp>
      <p:sp>
        <p:nvSpPr>
          <p:cNvPr id="40" name="Card: RAG engine"/>
          <p:cNvSpPr/>
          <p:nvPr/>
        </p:nvSpPr>
        <p:spPr>
          <a:xfrm>
            <a:off x="4516846" y="9736183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RAG engine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Hybrid search · HANA Cloud</a:t>
            </a:r>
          </a:p>
        </p:txBody>
      </p:sp>
      <p:sp>
        <p:nvSpPr>
          <p:cNvPr id="41" name="Card: Knowledge graph"/>
          <p:cNvSpPr/>
          <p:nvPr/>
        </p:nvSpPr>
        <p:spPr>
          <a:xfrm>
            <a:off x="8058331" y="9736183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Knowledge graph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Rule-based · HANA openCypher</a:t>
            </a:r>
          </a:p>
        </p:txBody>
      </p:sp>
      <p:sp>
        <p:nvSpPr>
          <p:cNvPr id="42" name="Card: Reasoning LLM"/>
          <p:cNvSpPr/>
          <p:nvPr/>
        </p:nvSpPr>
        <p:spPr>
          <a:xfrm>
            <a:off x="975360" y="12366171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Reasoning LLM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Claude Opus 5 · Gen AI Hub</a:t>
            </a:r>
          </a:p>
        </p:txBody>
      </p:sp>
      <p:sp>
        <p:nvSpPr>
          <p:cNvPr id="43" name="Card: Fast checks"/>
          <p:cNvSpPr/>
          <p:nvPr/>
        </p:nvSpPr>
        <p:spPr>
          <a:xfrm>
            <a:off x="4516846" y="12366171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Fast checks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Claude Haiku 4.5 · Gen AI Hub</a:t>
            </a:r>
          </a:p>
        </p:txBody>
      </p:sp>
      <p:sp>
        <p:nvSpPr>
          <p:cNvPr id="44" name="Card: Embeddings"/>
          <p:cNvSpPr/>
          <p:nvPr/>
        </p:nvSpPr>
        <p:spPr>
          <a:xfrm>
            <a:off x="8058331" y="12366171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Embeddings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Gen AI Hub or HANA embeddings</a:t>
            </a:r>
          </a:p>
        </p:txBody>
      </p:sp>
      <p:sp>
        <p:nvSpPr>
          <p:cNvPr id="45" name="Card: Corpus &amp; runs"/>
          <p:cNvSpPr/>
          <p:nvPr/>
        </p:nvSpPr>
        <p:spPr>
          <a:xfrm>
            <a:off x="975360" y="14996160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Corpus &amp; runs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HANA Cloud Vector Engine</a:t>
            </a:r>
          </a:p>
        </p:txBody>
      </p:sp>
      <p:sp>
        <p:nvSpPr>
          <p:cNvPr id="46" name="Card: Graph copy"/>
          <p:cNvSpPr/>
          <p:nvPr/>
        </p:nvSpPr>
        <p:spPr>
          <a:xfrm>
            <a:off x="4516846" y="14996160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Graph copy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HANA Cloud Graph Engine</a:t>
            </a:r>
          </a:p>
        </p:txBody>
      </p:sp>
      <p:sp>
        <p:nvSpPr>
          <p:cNvPr id="47" name="Card: Agent memory"/>
          <p:cNvSpPr/>
          <p:nvPr/>
        </p:nvSpPr>
        <p:spPr>
          <a:xfrm>
            <a:off x="8058331" y="14996160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Agent memory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Hindsight on Kyma · HANA</a:t>
            </a:r>
          </a:p>
        </p:txBody>
      </p:sp>
      <p:sp>
        <p:nvSpPr>
          <p:cNvPr id="48" name="Card: Evaluation"/>
          <p:cNvSpPr/>
          <p:nvPr/>
        </p:nvSpPr>
        <p:spPr>
          <a:xfrm>
            <a:off x="975360" y="17626149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Evaluation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Ragas · AI Launchpad evals</a:t>
            </a:r>
          </a:p>
        </p:txBody>
      </p:sp>
      <p:sp>
        <p:nvSpPr>
          <p:cNvPr id="49" name="Card: Observability"/>
          <p:cNvSpPr/>
          <p:nvPr/>
        </p:nvSpPr>
        <p:spPr>
          <a:xfrm>
            <a:off x="4516846" y="17626149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Observability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Cloud Logging or Langfuse</a:t>
            </a:r>
          </a:p>
        </p:txBody>
      </p:sp>
      <p:sp>
        <p:nvSpPr>
          <p:cNvPr id="50" name="Card: Deployment"/>
          <p:cNvSpPr/>
          <p:nvPr/>
        </p:nvSpPr>
        <p:spPr>
          <a:xfrm>
            <a:off x="8058331" y="17626149"/>
            <a:ext cx="3158309" cy="1045029"/>
          </a:xfrm>
          <a:prstGeom prst="roundRect">
            <a:avLst>
              <a:gd name="adj" fmla="val 11666"/>
            </a:avLst>
          </a:prstGeom>
          <a:solidFill>
            <a:srgbClr val="FAFAF8"/>
          </a:solidFill>
          <a:ln w="13062">
            <a:solidFill>
              <a:srgbClr val="D9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82" b="1">
                <a:solidFill>
                  <a:srgbClr val="1E2530"/>
                </a:solidFill>
                <a:latin typeface="Arial"/>
              </a:rPr>
              <a:t>Deployment</a:t>
            </a:r>
          </a:p>
          <a:p>
            <a:pPr algn="ctr"/>
            <a:r>
              <a:rPr sz="1440" b="0">
                <a:solidFill>
                  <a:srgbClr val="4A5563"/>
                </a:solidFill>
                <a:latin typeface="Arial"/>
              </a:rPr>
              <a:t>Kyma · CI/CD · Transport Mgmt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2514" y="19106606"/>
            <a:ext cx="11146971" cy="505097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8708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6686" y="19176274"/>
            <a:ext cx="10798629" cy="400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0">
                <a:solidFill>
                  <a:srgbClr val="4A5563"/>
                </a:solidFill>
                <a:latin typeface="Arial"/>
              </a:rPr>
              <a:t>Same layers and capabilities as the current stack; only the technology line on each card changes · "A or B" = open decision</a:t>
            </a:r>
          </a:p>
          <a:p>
            <a:pPr algn="l"/>
            <a:r>
              <a:rPr sz="960" b="0">
                <a:solidFill>
                  <a:srgbClr val="4A5563"/>
                </a:solidFill>
                <a:latin typeface="Arial"/>
              </a:rPr>
              <a:t>SAP BTP: HANA Cloud replaces PostgreSQL + pgvector and Neo4j; Claude and embeddings run through SAP Generative AI Hub (AI Core)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
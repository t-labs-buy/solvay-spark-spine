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83525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80831"/>
            <a:ext cx="12192000" cy="269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72" b="1">
                <a:solidFill>
                  <a:srgbClr val="1E2530"/>
                </a:solidFill>
                <a:latin typeface="Arial"/>
              </a:rPr>
              <a:t>Solvay Spark Spine AI — High-Level Architecture</a:t>
            </a:r>
          </a:p>
        </p:txBody>
      </p:sp>
      <p:sp>
        <p:nvSpPr>
          <p:cNvPr id="3" name="Band: Consumption"/>
          <p:cNvSpPr/>
          <p:nvPr/>
        </p:nvSpPr>
        <p:spPr>
          <a:xfrm>
            <a:off x="134718" y="1010387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22303F"/>
          </a:solidFill>
          <a:ln w="8756">
            <a:solidFill>
              <a:srgbClr val="22303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3324" y="1118161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A9D6E5"/>
                </a:solidFill>
                <a:latin typeface="Arial"/>
              </a:rPr>
              <a:t>CONSUMPTION</a:t>
            </a:r>
          </a:p>
        </p:txBody>
      </p:sp>
      <p:sp>
        <p:nvSpPr>
          <p:cNvPr id="5" name="Band: Retrieval &amp; grounding"/>
          <p:cNvSpPr/>
          <p:nvPr/>
        </p:nvSpPr>
        <p:spPr>
          <a:xfrm>
            <a:off x="134718" y="2384513"/>
            <a:ext cx="8891403" cy="1657034"/>
          </a:xfrm>
          <a:prstGeom prst="roundRect">
            <a:avLst>
              <a:gd name="adj" fmla="val 2439"/>
            </a:avLst>
          </a:prstGeom>
          <a:solidFill>
            <a:srgbClr val="4A8C96"/>
          </a:solidFill>
          <a:ln w="8756">
            <a:solidFill>
              <a:srgbClr val="4A8C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324" y="2492287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FFFFFF"/>
                </a:solidFill>
                <a:latin typeface="Arial"/>
              </a:rPr>
              <a:t>RETRIEVAL &amp; GROUNDING</a:t>
            </a:r>
          </a:p>
        </p:txBody>
      </p:sp>
      <p:sp>
        <p:nvSpPr>
          <p:cNvPr id="7" name="Band: Memory layer"/>
          <p:cNvSpPr/>
          <p:nvPr/>
        </p:nvSpPr>
        <p:spPr>
          <a:xfrm>
            <a:off x="134718" y="4337927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3B4A5E"/>
          </a:solidFill>
          <a:ln w="8756">
            <a:solidFill>
              <a:srgbClr val="3B4A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324" y="4445702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CFE3EC"/>
                </a:solidFill>
                <a:latin typeface="Arial"/>
              </a:rPr>
              <a:t>MEMORY LAYER</a:t>
            </a:r>
          </a:p>
        </p:txBody>
      </p:sp>
      <p:sp>
        <p:nvSpPr>
          <p:cNvPr id="9" name="Band: Ingestion &amp; curation"/>
          <p:cNvSpPr/>
          <p:nvPr/>
        </p:nvSpPr>
        <p:spPr>
          <a:xfrm>
            <a:off x="134718" y="5712053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 w="8756">
            <a:solidFill>
              <a:srgbClr val="CE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324" y="5819828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22303F"/>
                </a:solidFill>
                <a:latin typeface="Arial"/>
              </a:rPr>
              <a:t>INGESTION &amp; CURATION</a:t>
            </a:r>
          </a:p>
        </p:txBody>
      </p:sp>
      <p:sp>
        <p:nvSpPr>
          <p:cNvPr id="11" name="Band: Sources"/>
          <p:cNvSpPr/>
          <p:nvPr/>
        </p:nvSpPr>
        <p:spPr>
          <a:xfrm>
            <a:off x="134718" y="7086179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F7F9FB"/>
          </a:solidFill>
          <a:ln w="8756">
            <a:solidFill>
              <a:srgbClr val="D5DC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324" y="7193954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22303F"/>
                </a:solidFill>
                <a:latin typeface="Arial"/>
              </a:rPr>
              <a:t>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324" y="7396031"/>
            <a:ext cx="8514192" cy="148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42" b="0">
                <a:solidFill>
                  <a:srgbClr val="3B4A5E"/>
                </a:solidFill>
                <a:latin typeface="Arial"/>
              </a:rPr>
              <a:t>Programme documents, country As-Is attachments and existing corpus folders</a:t>
            </a:r>
          </a:p>
        </p:txBody>
      </p:sp>
      <p:sp>
        <p:nvSpPr>
          <p:cNvPr id="14" name="Group: Models"/>
          <p:cNvSpPr/>
          <p:nvPr/>
        </p:nvSpPr>
        <p:spPr>
          <a:xfrm>
            <a:off x="9295558" y="1010387"/>
            <a:ext cx="2761724" cy="1212464"/>
          </a:xfrm>
          <a:prstGeom prst="roundRect">
            <a:avLst>
              <a:gd name="adj" fmla="val 7777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3333" y="1077746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Models</a:t>
            </a:r>
          </a:p>
        </p:txBody>
      </p:sp>
      <p:sp>
        <p:nvSpPr>
          <p:cNvPr id="16" name="Group: Evaluation"/>
          <p:cNvSpPr/>
          <p:nvPr/>
        </p:nvSpPr>
        <p:spPr>
          <a:xfrm>
            <a:off x="9295558" y="2384513"/>
            <a:ext cx="2761724" cy="1657034"/>
          </a:xfrm>
          <a:prstGeom prst="roundRect">
            <a:avLst>
              <a:gd name="adj" fmla="val 5691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3333" y="2451872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Evaluation</a:t>
            </a:r>
          </a:p>
        </p:txBody>
      </p:sp>
      <p:sp>
        <p:nvSpPr>
          <p:cNvPr id="18" name="Group: External services"/>
          <p:cNvSpPr/>
          <p:nvPr/>
        </p:nvSpPr>
        <p:spPr>
          <a:xfrm>
            <a:off x="9295558" y="4337927"/>
            <a:ext cx="2761724" cy="1212464"/>
          </a:xfrm>
          <a:prstGeom prst="roundRect">
            <a:avLst>
              <a:gd name="adj" fmla="val 7777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3333" y="4405286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External services</a:t>
            </a:r>
          </a:p>
        </p:txBody>
      </p:sp>
      <p:sp>
        <p:nvSpPr>
          <p:cNvPr id="20" name="Group: Security &amp; guardrails"/>
          <p:cNvSpPr/>
          <p:nvPr/>
        </p:nvSpPr>
        <p:spPr>
          <a:xfrm>
            <a:off x="9295558" y="5712053"/>
            <a:ext cx="2761724" cy="1212464"/>
          </a:xfrm>
          <a:prstGeom prst="roundRect">
            <a:avLst>
              <a:gd name="adj" fmla="val 7777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3333" y="5779412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Security &amp; guardrails</a:t>
            </a:r>
          </a:p>
        </p:txBody>
      </p:sp>
      <p:cxnSp>
        <p:nvCxnSpPr>
          <p:cNvPr id="22" name="Link 0"/>
          <p:cNvCxnSpPr/>
          <p:nvPr/>
        </p:nvCxnSpPr>
        <p:spPr>
          <a:xfrm>
            <a:off x="4573684" y="835253"/>
            <a:ext cx="0" cy="161662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k 1"/>
          <p:cNvCxnSpPr/>
          <p:nvPr/>
        </p:nvCxnSpPr>
        <p:spPr>
          <a:xfrm flipV="1">
            <a:off x="1044066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nk 2"/>
          <p:cNvCxnSpPr/>
          <p:nvPr/>
        </p:nvCxnSpPr>
        <p:spPr>
          <a:xfrm flipV="1">
            <a:off x="2808875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k 3"/>
          <p:cNvCxnSpPr/>
          <p:nvPr/>
        </p:nvCxnSpPr>
        <p:spPr>
          <a:xfrm flipV="1">
            <a:off x="4573684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k 4"/>
          <p:cNvCxnSpPr/>
          <p:nvPr/>
        </p:nvCxnSpPr>
        <p:spPr>
          <a:xfrm flipV="1">
            <a:off x="6338493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k 5"/>
          <p:cNvCxnSpPr/>
          <p:nvPr/>
        </p:nvCxnSpPr>
        <p:spPr>
          <a:xfrm flipV="1">
            <a:off x="8103302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k 6"/>
          <p:cNvCxnSpPr/>
          <p:nvPr/>
        </p:nvCxnSpPr>
        <p:spPr>
          <a:xfrm flipV="1">
            <a:off x="1044066" y="4055019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k 7"/>
          <p:cNvCxnSpPr/>
          <p:nvPr/>
        </p:nvCxnSpPr>
        <p:spPr>
          <a:xfrm flipV="1">
            <a:off x="4573684" y="4055019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k 8"/>
          <p:cNvCxnSpPr/>
          <p:nvPr/>
        </p:nvCxnSpPr>
        <p:spPr>
          <a:xfrm flipV="1">
            <a:off x="6338493" y="4055019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k 9"/>
          <p:cNvCxnSpPr/>
          <p:nvPr/>
        </p:nvCxnSpPr>
        <p:spPr>
          <a:xfrm>
            <a:off x="8103302" y="4041547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k 10"/>
          <p:cNvCxnSpPr/>
          <p:nvPr/>
        </p:nvCxnSpPr>
        <p:spPr>
          <a:xfrm flipV="1">
            <a:off x="1044066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k 11"/>
          <p:cNvCxnSpPr/>
          <p:nvPr/>
        </p:nvCxnSpPr>
        <p:spPr>
          <a:xfrm flipV="1">
            <a:off x="2808875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k 12"/>
          <p:cNvCxnSpPr/>
          <p:nvPr/>
        </p:nvCxnSpPr>
        <p:spPr>
          <a:xfrm flipV="1">
            <a:off x="4573684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k 13"/>
          <p:cNvCxnSpPr/>
          <p:nvPr/>
        </p:nvCxnSpPr>
        <p:spPr>
          <a:xfrm flipV="1">
            <a:off x="6338493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nk 14"/>
          <p:cNvCxnSpPr/>
          <p:nvPr/>
        </p:nvCxnSpPr>
        <p:spPr>
          <a:xfrm flipV="1">
            <a:off x="1044066" y="6803271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k 15"/>
          <p:cNvCxnSpPr/>
          <p:nvPr/>
        </p:nvCxnSpPr>
        <p:spPr>
          <a:xfrm flipV="1">
            <a:off x="4573684" y="6803271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k 16"/>
          <p:cNvCxnSpPr/>
          <p:nvPr/>
        </p:nvCxnSpPr>
        <p:spPr>
          <a:xfrm flipV="1">
            <a:off x="1044066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nk 17"/>
          <p:cNvCxnSpPr/>
          <p:nvPr/>
        </p:nvCxnSpPr>
        <p:spPr>
          <a:xfrm flipV="1">
            <a:off x="2808875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ink 18"/>
          <p:cNvCxnSpPr/>
          <p:nvPr/>
        </p:nvCxnSpPr>
        <p:spPr>
          <a:xfrm flipV="1">
            <a:off x="4573684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ink 19"/>
          <p:cNvCxnSpPr/>
          <p:nvPr/>
        </p:nvCxnSpPr>
        <p:spPr>
          <a:xfrm flipV="1">
            <a:off x="6338493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k 20"/>
          <p:cNvCxnSpPr/>
          <p:nvPr/>
        </p:nvCxnSpPr>
        <p:spPr>
          <a:xfrm flipV="1">
            <a:off x="8103302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k 21"/>
          <p:cNvCxnSpPr/>
          <p:nvPr/>
        </p:nvCxnSpPr>
        <p:spPr>
          <a:xfrm>
            <a:off x="1785017" y="6446267"/>
            <a:ext cx="269436" cy="0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k 22"/>
          <p:cNvCxnSpPr/>
          <p:nvPr/>
        </p:nvCxnSpPr>
        <p:spPr>
          <a:xfrm>
            <a:off x="3549825" y="6446267"/>
            <a:ext cx="269437" cy="0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k 23"/>
          <p:cNvCxnSpPr/>
          <p:nvPr/>
        </p:nvCxnSpPr>
        <p:spPr>
          <a:xfrm>
            <a:off x="2808875" y="6682024"/>
            <a:ext cx="0" cy="53888"/>
          </a:xfrm>
          <a:prstGeom prst="line">
            <a:avLst/>
          </a:prstGeom>
          <a:ln w="11451">
            <a:solidFill>
              <a:srgbClr val="6B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k 23"/>
          <p:cNvCxnSpPr/>
          <p:nvPr/>
        </p:nvCxnSpPr>
        <p:spPr>
          <a:xfrm>
            <a:off x="2808875" y="6735912"/>
            <a:ext cx="3260181" cy="0"/>
          </a:xfrm>
          <a:prstGeom prst="line">
            <a:avLst/>
          </a:prstGeom>
          <a:ln w="11451">
            <a:solidFill>
              <a:srgbClr val="6B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k 23"/>
          <p:cNvCxnSpPr/>
          <p:nvPr/>
        </p:nvCxnSpPr>
        <p:spPr>
          <a:xfrm flipV="1">
            <a:off x="6069056" y="6695496"/>
            <a:ext cx="0" cy="40416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User (head)"/>
          <p:cNvSpPr/>
          <p:nvPr/>
        </p:nvSpPr>
        <p:spPr>
          <a:xfrm>
            <a:off x="4492853" y="451306"/>
            <a:ext cx="161662" cy="161662"/>
          </a:xfrm>
          <a:prstGeom prst="ellipse">
            <a:avLst/>
          </a:prstGeom>
          <a:solidFill>
            <a:srgbClr val="3B4A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User (body)"/>
          <p:cNvSpPr/>
          <p:nvPr/>
        </p:nvSpPr>
        <p:spPr>
          <a:xfrm>
            <a:off x="4425494" y="633176"/>
            <a:ext cx="296380" cy="1683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4A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Ask RAG"/>
          <p:cNvSpPr/>
          <p:nvPr/>
        </p:nvSpPr>
        <p:spPr>
          <a:xfrm>
            <a:off x="303116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Ask RAG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cited answers · streamed</a:t>
            </a:r>
          </a:p>
        </p:txBody>
      </p:sp>
      <p:sp>
        <p:nvSpPr>
          <p:cNvPr id="51" name="Evidence Agent"/>
          <p:cNvSpPr/>
          <p:nvPr/>
        </p:nvSpPr>
        <p:spPr>
          <a:xfrm>
            <a:off x="2067925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Evidence Agent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claims with verified quotes</a:t>
            </a:r>
          </a:p>
        </p:txBody>
      </p:sp>
      <p:sp>
        <p:nvSpPr>
          <p:cNvPr id="52" name="Fit-Gap Copilot"/>
          <p:cNvSpPr/>
          <p:nvPr/>
        </p:nvSpPr>
        <p:spPr>
          <a:xfrm>
            <a:off x="3832734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Fit-Gap Copilot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country As-Is vs template</a:t>
            </a:r>
          </a:p>
        </p:txBody>
      </p:sp>
      <p:sp>
        <p:nvSpPr>
          <p:cNvPr id="53" name="InsightLens"/>
          <p:cNvSpPr/>
          <p:nvPr/>
        </p:nvSpPr>
        <p:spPr>
          <a:xfrm>
            <a:off x="5597543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InsightLens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per-process fit-gap</a:t>
            </a:r>
          </a:p>
        </p:txBody>
      </p:sp>
      <p:sp>
        <p:nvSpPr>
          <p:cNvPr id="54" name="Graph Explorer"/>
          <p:cNvSpPr/>
          <p:nvPr/>
        </p:nvSpPr>
        <p:spPr>
          <a:xfrm>
            <a:off x="7362351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Graph Explorer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canvas · graph queries</a:t>
            </a:r>
          </a:p>
        </p:txBody>
      </p:sp>
      <p:sp>
        <p:nvSpPr>
          <p:cNvPr id="55" name="Grounding &amp; verification"/>
          <p:cNvSpPr/>
          <p:nvPr/>
        </p:nvSpPr>
        <p:spPr>
          <a:xfrm>
            <a:off x="296380" y="2882970"/>
            <a:ext cx="8554608" cy="377211"/>
          </a:xfrm>
          <a:prstGeom prst="roundRect">
            <a:avLst>
              <a:gd name="adj" fmla="val 17857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Grounding &amp; verification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The system answers only from retrieved passages · citation on every answer · every quote verified · confidence computed, not generated</a:t>
            </a:r>
          </a:p>
        </p:txBody>
      </p:sp>
      <p:sp>
        <p:nvSpPr>
          <p:cNvPr id="56" name="Upload search"/>
          <p:cNvSpPr/>
          <p:nvPr/>
        </p:nvSpPr>
        <p:spPr>
          <a:xfrm>
            <a:off x="303116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Upload search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session attachments</a:t>
            </a:r>
          </a:p>
        </p:txBody>
      </p:sp>
      <p:sp>
        <p:nvSpPr>
          <p:cNvPr id="57" name="Gated web search"/>
          <p:cNvSpPr/>
          <p:nvPr/>
        </p:nvSpPr>
        <p:spPr>
          <a:xfrm>
            <a:off x="2067925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Gated web search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SAP · EU sites, after the corpus</a:t>
            </a:r>
          </a:p>
        </p:txBody>
      </p:sp>
      <p:sp>
        <p:nvSpPr>
          <p:cNvPr id="58" name="Hybrid search"/>
          <p:cNvSpPr/>
          <p:nvPr/>
        </p:nvSpPr>
        <p:spPr>
          <a:xfrm>
            <a:off x="3832734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Hybrid search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vector + keyword</a:t>
            </a:r>
          </a:p>
        </p:txBody>
      </p:sp>
      <p:sp>
        <p:nvSpPr>
          <p:cNvPr id="59" name="Graph traversal"/>
          <p:cNvSpPr/>
          <p:nvPr/>
        </p:nvSpPr>
        <p:spPr>
          <a:xfrm>
            <a:off x="5597543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Graph traversal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neighbours · paths · NL → Cypher</a:t>
            </a:r>
          </a:p>
        </p:txBody>
      </p:sp>
      <p:sp>
        <p:nvSpPr>
          <p:cNvPr id="60" name="Memory recall"/>
          <p:cNvSpPr/>
          <p:nvPr/>
        </p:nvSpPr>
        <p:spPr>
          <a:xfrm>
            <a:off x="7362351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Memory recall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past runs</a:t>
            </a:r>
          </a:p>
        </p:txBody>
      </p:sp>
      <p:sp>
        <p:nvSpPr>
          <p:cNvPr id="61" name="Upload sessions"/>
          <p:cNvSpPr/>
          <p:nvPr/>
        </p:nvSpPr>
        <p:spPr>
          <a:xfrm>
            <a:off x="303116" y="4836385"/>
            <a:ext cx="1481901" cy="471514"/>
          </a:xfrm>
          <a:prstGeom prst="can">
            <a:avLst>
              <a:gd name="adj" fmla="val 12000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Upload sessions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Postgres schema</a:t>
            </a:r>
          </a:p>
        </p:txBody>
      </p:sp>
      <p:sp>
        <p:nvSpPr>
          <p:cNvPr id="62" name="Document corpus"/>
          <p:cNvSpPr/>
          <p:nvPr/>
        </p:nvSpPr>
        <p:spPr>
          <a:xfrm>
            <a:off x="2067925" y="4836385"/>
            <a:ext cx="1481901" cy="471514"/>
          </a:xfrm>
          <a:prstGeom prst="foldedCorner">
            <a:avLst/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Document corpus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Markdown · source of truth</a:t>
            </a:r>
          </a:p>
        </p:txBody>
      </p:sp>
      <p:sp>
        <p:nvSpPr>
          <p:cNvPr id="63" name="Vector &amp; keyword index"/>
          <p:cNvSpPr/>
          <p:nvPr/>
        </p:nvSpPr>
        <p:spPr>
          <a:xfrm>
            <a:off x="3832734" y="4836385"/>
            <a:ext cx="1481901" cy="471514"/>
          </a:xfrm>
          <a:prstGeom prst="can">
            <a:avLst>
              <a:gd name="adj" fmla="val 12000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Vector &amp; keyword index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PostgreSQL · vector search</a:t>
            </a:r>
          </a:p>
        </p:txBody>
      </p:sp>
      <p:sp>
        <p:nvSpPr>
          <p:cNvPr id="64" name="Process knowledge graph"/>
          <p:cNvSpPr/>
          <p:nvPr/>
        </p:nvSpPr>
        <p:spPr>
          <a:xfrm>
            <a:off x="5597543" y="4836385"/>
            <a:ext cx="1481901" cy="471514"/>
          </a:xfrm>
          <a:prstGeom prst="can">
            <a:avLst>
              <a:gd name="adj" fmla="val 12000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Process knowledge graph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graph file + graph database</a:t>
            </a:r>
          </a:p>
        </p:txBody>
      </p:sp>
      <p:sp>
        <p:nvSpPr>
          <p:cNvPr id="65" name="Agent memory"/>
          <p:cNvSpPr/>
          <p:nvPr/>
        </p:nvSpPr>
        <p:spPr>
          <a:xfrm>
            <a:off x="7362351" y="4836385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Agent memory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verified findings from past runs</a:t>
            </a:r>
          </a:p>
        </p:txBody>
      </p:sp>
      <p:sp>
        <p:nvSpPr>
          <p:cNvPr id="66" name="Convert to Markdown"/>
          <p:cNvSpPr/>
          <p:nvPr/>
        </p:nvSpPr>
        <p:spPr>
          <a:xfrm>
            <a:off x="303116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Convert to Markdown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layout · OCR · tables · diagrams</a:t>
            </a:r>
          </a:p>
        </p:txBody>
      </p:sp>
      <p:sp>
        <p:nvSpPr>
          <p:cNvPr id="67" name="Curate &amp; publish"/>
          <p:cNvSpPr/>
          <p:nvPr/>
        </p:nvSpPr>
        <p:spPr>
          <a:xfrm>
            <a:off x="2067925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Curate &amp; publish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analyst adds to KB · category</a:t>
            </a:r>
          </a:p>
        </p:txBody>
      </p:sp>
      <p:sp>
        <p:nvSpPr>
          <p:cNvPr id="68" name="Chunk &amp; embed"/>
          <p:cNvSpPr/>
          <p:nvPr/>
        </p:nvSpPr>
        <p:spPr>
          <a:xfrm>
            <a:off x="3832734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Chunk &amp; embed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heading-aware · local embeddings</a:t>
            </a:r>
          </a:p>
        </p:txBody>
      </p:sp>
      <p:sp>
        <p:nvSpPr>
          <p:cNvPr id="69" name="Build knowledge graph"/>
          <p:cNvSpPr/>
          <p:nvPr/>
        </p:nvSpPr>
        <p:spPr>
          <a:xfrm>
            <a:off x="5597543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Build knowledge graph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entities · links · evidence</a:t>
            </a:r>
          </a:p>
        </p:txBody>
      </p:sp>
      <p:sp>
        <p:nvSpPr>
          <p:cNvPr id="70" name="Documents"/>
          <p:cNvSpPr/>
          <p:nvPr/>
        </p:nvSpPr>
        <p:spPr>
          <a:xfrm>
            <a:off x="303116" y="7557693"/>
            <a:ext cx="1481901" cy="525401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0103">
            <a:solidFill>
              <a:srgbClr val="B9C3CF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Documents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programme docs · decks · e-mails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country As-Is attachments</a:t>
            </a:r>
          </a:p>
        </p:txBody>
      </p:sp>
      <p:sp>
        <p:nvSpPr>
          <p:cNvPr id="71" name="Existing corpus folders"/>
          <p:cNvSpPr/>
          <p:nvPr/>
        </p:nvSpPr>
        <p:spPr>
          <a:xfrm>
            <a:off x="3832734" y="7557693"/>
            <a:ext cx="1481901" cy="525401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0103">
            <a:solidFill>
              <a:srgbClr val="B9C3CF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Existing corpus folders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PKG · DR Markdown</a:t>
            </a:r>
          </a:p>
        </p:txBody>
      </p:sp>
      <p:sp>
        <p:nvSpPr>
          <p:cNvPr id="72" name="Large language model"/>
          <p:cNvSpPr/>
          <p:nvPr/>
        </p:nvSpPr>
        <p:spPr>
          <a:xfrm>
            <a:off x="9564994" y="1252880"/>
            <a:ext cx="2222851" cy="350267"/>
          </a:xfrm>
          <a:prstGeom prst="roundRect">
            <a:avLst>
              <a:gd name="adj" fmla="val 50000"/>
            </a:avLst>
          </a:prstGeom>
          <a:solidFill>
            <a:srgbClr val="2F2F33"/>
          </a:solidFill>
          <a:ln w="10103">
            <a:solidFill>
              <a:srgbClr val="111111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FFFFFF"/>
                </a:solidFill>
                <a:latin typeface="Arial"/>
              </a:rPr>
              <a:t>Large language model</a:t>
            </a:r>
          </a:p>
          <a:p>
            <a:pPr algn="ctr"/>
            <a:r>
              <a:rPr sz="662" b="0">
                <a:solidFill>
                  <a:srgbClr val="D6D6DA"/>
                </a:solidFill>
                <a:latin typeface="Arial"/>
              </a:rPr>
              <a:t>cloud · answers · agent loops · judges</a:t>
            </a:r>
          </a:p>
        </p:txBody>
      </p:sp>
      <p:sp>
        <p:nvSpPr>
          <p:cNvPr id="73" name="Embedding model"/>
          <p:cNvSpPr/>
          <p:nvPr/>
        </p:nvSpPr>
        <p:spPr>
          <a:xfrm>
            <a:off x="9564994" y="1724393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EAF7F7"/>
          </a:solidFill>
          <a:ln w="10103">
            <a:solidFill>
              <a:srgbClr val="3F9A9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Embedding model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local · text → vectors</a:t>
            </a:r>
          </a:p>
        </p:txBody>
      </p:sp>
      <p:sp>
        <p:nvSpPr>
          <p:cNvPr id="74" name="RAG Evaluation"/>
          <p:cNvSpPr/>
          <p:nvPr/>
        </p:nvSpPr>
        <p:spPr>
          <a:xfrm>
            <a:off x="9564994" y="2640477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FF0F3"/>
          </a:solidFill>
          <a:ln w="10103">
            <a:solidFill>
              <a:srgbClr val="C9546E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RAG Evaluation</a:t>
            </a:r>
          </a:p>
        </p:txBody>
      </p:sp>
      <p:sp>
        <p:nvSpPr>
          <p:cNvPr id="75" name="Agent Evaluation"/>
          <p:cNvSpPr/>
          <p:nvPr/>
        </p:nvSpPr>
        <p:spPr>
          <a:xfrm>
            <a:off x="9564994" y="3058104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FF0F3"/>
          </a:solidFill>
          <a:ln w="10103">
            <a:solidFill>
              <a:srgbClr val="C9546E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Agent Evaluation</a:t>
            </a:r>
          </a:p>
        </p:txBody>
      </p:sp>
      <p:sp>
        <p:nvSpPr>
          <p:cNvPr id="76" name="Graph Evaluation"/>
          <p:cNvSpPr/>
          <p:nvPr/>
        </p:nvSpPr>
        <p:spPr>
          <a:xfrm>
            <a:off x="9564994" y="3475730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FF0F3"/>
          </a:solidFill>
          <a:ln w="10103">
            <a:solidFill>
              <a:srgbClr val="C9546E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Graph Evaluation</a:t>
            </a:r>
          </a:p>
        </p:txBody>
      </p:sp>
      <p:sp>
        <p:nvSpPr>
          <p:cNvPr id="77" name="Observability"/>
          <p:cNvSpPr/>
          <p:nvPr/>
        </p:nvSpPr>
        <p:spPr>
          <a:xfrm>
            <a:off x="9564994" y="4580420"/>
            <a:ext cx="2222851" cy="350267"/>
          </a:xfrm>
          <a:prstGeom prst="roundRect">
            <a:avLst>
              <a:gd name="adj" fmla="val 50000"/>
            </a:avLst>
          </a:prstGeom>
          <a:solidFill>
            <a:srgbClr val="2F2F33"/>
          </a:solidFill>
          <a:ln w="10103">
            <a:solidFill>
              <a:srgbClr val="111111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FFFFFF"/>
                </a:solidFill>
                <a:latin typeface="Arial"/>
              </a:rPr>
              <a:t>Observability</a:t>
            </a:r>
          </a:p>
          <a:p>
            <a:pPr algn="ctr"/>
            <a:r>
              <a:rPr sz="662" b="0">
                <a:solidFill>
                  <a:srgbClr val="D6D6DA"/>
                </a:solidFill>
                <a:latin typeface="Arial"/>
              </a:rPr>
              <a:t>traces · every quality score</a:t>
            </a:r>
          </a:p>
        </p:txBody>
      </p:sp>
      <p:sp>
        <p:nvSpPr>
          <p:cNvPr id="78" name="Web (allow-listed)"/>
          <p:cNvSpPr/>
          <p:nvPr/>
        </p:nvSpPr>
        <p:spPr>
          <a:xfrm>
            <a:off x="9564994" y="5051934"/>
            <a:ext cx="2222851" cy="350267"/>
          </a:xfrm>
          <a:prstGeom prst="roundRect">
            <a:avLst>
              <a:gd name="adj" fmla="val 50000"/>
            </a:avLst>
          </a:prstGeom>
          <a:solidFill>
            <a:srgbClr val="2F2F33"/>
          </a:solidFill>
          <a:ln w="10103">
            <a:solidFill>
              <a:srgbClr val="111111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FFFFFF"/>
                </a:solidFill>
                <a:latin typeface="Arial"/>
              </a:rPr>
              <a:t>Web (allow-listed)</a:t>
            </a:r>
          </a:p>
          <a:p>
            <a:pPr algn="ctr"/>
            <a:r>
              <a:rPr sz="662" b="0">
                <a:solidFill>
                  <a:srgbClr val="D6D6DA"/>
                </a:solidFill>
                <a:latin typeface="Arial"/>
              </a:rPr>
              <a:t>SAP · EU regulation sites</a:t>
            </a:r>
          </a:p>
        </p:txBody>
      </p:sp>
      <p:sp>
        <p:nvSpPr>
          <p:cNvPr id="79" name="Sign-in"/>
          <p:cNvSpPr/>
          <p:nvPr/>
        </p:nvSpPr>
        <p:spPr>
          <a:xfrm>
            <a:off x="9564994" y="5954546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1F5F9"/>
          </a:solidFill>
          <a:ln w="10103">
            <a:solidFill>
              <a:srgbClr val="64748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Sign-in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presentation lock · /api stays open</a:t>
            </a:r>
          </a:p>
        </p:txBody>
      </p:sp>
      <p:sp>
        <p:nvSpPr>
          <p:cNvPr id="80" name="Guardrails"/>
          <p:cNvSpPr/>
          <p:nvPr/>
        </p:nvSpPr>
        <p:spPr>
          <a:xfrm>
            <a:off x="9564994" y="6426060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1F5F9"/>
          </a:solidFill>
          <a:ln w="10103">
            <a:solidFill>
              <a:srgbClr val="64748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Guardrails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scope check · contact redaction</a:t>
            </a:r>
          </a:p>
        </p:txBody>
      </p:sp>
      <p:sp>
        <p:nvSpPr>
          <p:cNvPr id="81" name="Legend"/>
          <p:cNvSpPr/>
          <p:nvPr/>
        </p:nvSpPr>
        <p:spPr>
          <a:xfrm>
            <a:off x="9295558" y="7086179"/>
            <a:ext cx="2761724" cy="390683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6735">
            <a:solidFill>
              <a:srgbClr val="D5DCE4"/>
            </a:solidFill>
          </a:ln>
          <a:effectLst/>
        </p:spPr>
        <p:txBody>
          <a:bodyPr rtlCol="0" anchor="ctr" wrap="square" lIns="107775" rIns="107775" tIns="107775" bIns="107775"/>
          <a:lstStyle/>
          <a:p>
            <a:pPr algn="l"/>
            <a:r>
              <a:rPr sz="662" b="0">
                <a:solidFill>
                  <a:srgbClr val="4A5563"/>
                </a:solidFill>
                <a:latin typeface="Arial"/>
              </a:rPr>
              <a:t>Arrows = data / request flow, sources → consumption</a:t>
            </a:r>
          </a:p>
          <a:p>
            <a:pPr algn="l"/>
            <a:r>
              <a:rPr sz="662" b="0">
                <a:solidFill>
                  <a:srgbClr val="4A5563"/>
                </a:solidFill>
                <a:latin typeface="Arial"/>
              </a:rPr>
              <a:t>Dark boxes = cloud services · side panel = cross-cutting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
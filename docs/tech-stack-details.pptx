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83525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80831"/>
            <a:ext cx="12192000" cy="269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72" b="1">
                <a:solidFill>
                  <a:srgbClr val="1E2530"/>
                </a:solidFill>
                <a:latin typeface="Arial"/>
              </a:rPr>
              <a:t>Solvay Spark Spine AI — Tech Stack</a:t>
            </a:r>
          </a:p>
        </p:txBody>
      </p:sp>
      <p:sp>
        <p:nvSpPr>
          <p:cNvPr id="3" name="Band: Consumption"/>
          <p:cNvSpPr/>
          <p:nvPr/>
        </p:nvSpPr>
        <p:spPr>
          <a:xfrm>
            <a:off x="134718" y="1010387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22303F"/>
          </a:solidFill>
          <a:ln w="8756">
            <a:solidFill>
              <a:srgbClr val="22303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3324" y="1118161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A9D6E5"/>
                </a:solidFill>
                <a:latin typeface="Arial"/>
              </a:rPr>
              <a:t>CONSUMPTION</a:t>
            </a:r>
          </a:p>
        </p:txBody>
      </p:sp>
      <p:sp>
        <p:nvSpPr>
          <p:cNvPr id="5" name="Band: Retrieval &amp; grounding"/>
          <p:cNvSpPr/>
          <p:nvPr/>
        </p:nvSpPr>
        <p:spPr>
          <a:xfrm>
            <a:off x="134718" y="2384513"/>
            <a:ext cx="8891403" cy="1657034"/>
          </a:xfrm>
          <a:prstGeom prst="roundRect">
            <a:avLst>
              <a:gd name="adj" fmla="val 2439"/>
            </a:avLst>
          </a:prstGeom>
          <a:solidFill>
            <a:srgbClr val="4A8C96"/>
          </a:solidFill>
          <a:ln w="8756">
            <a:solidFill>
              <a:srgbClr val="4A8C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324" y="2492287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FFFFFF"/>
                </a:solidFill>
                <a:latin typeface="Arial"/>
              </a:rPr>
              <a:t>RETRIEVAL &amp; GROUNDING</a:t>
            </a:r>
          </a:p>
        </p:txBody>
      </p:sp>
      <p:sp>
        <p:nvSpPr>
          <p:cNvPr id="7" name="Band: Memory layer"/>
          <p:cNvSpPr/>
          <p:nvPr/>
        </p:nvSpPr>
        <p:spPr>
          <a:xfrm>
            <a:off x="134718" y="4337927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3B4A5E"/>
          </a:solidFill>
          <a:ln w="8756">
            <a:solidFill>
              <a:srgbClr val="3B4A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324" y="4445702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CFE3EC"/>
                </a:solidFill>
                <a:latin typeface="Arial"/>
              </a:rPr>
              <a:t>MEMORY LAYER</a:t>
            </a:r>
          </a:p>
        </p:txBody>
      </p:sp>
      <p:sp>
        <p:nvSpPr>
          <p:cNvPr id="9" name="Band: Ingestion &amp; curation"/>
          <p:cNvSpPr/>
          <p:nvPr/>
        </p:nvSpPr>
        <p:spPr>
          <a:xfrm>
            <a:off x="134718" y="5712053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 w="8756">
            <a:solidFill>
              <a:srgbClr val="CE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324" y="5819828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22303F"/>
                </a:solidFill>
                <a:latin typeface="Arial"/>
              </a:rPr>
              <a:t>INGESTION &amp; CURATION</a:t>
            </a:r>
          </a:p>
        </p:txBody>
      </p:sp>
      <p:sp>
        <p:nvSpPr>
          <p:cNvPr id="11" name="Band: Sources"/>
          <p:cNvSpPr/>
          <p:nvPr/>
        </p:nvSpPr>
        <p:spPr>
          <a:xfrm>
            <a:off x="134718" y="7086179"/>
            <a:ext cx="8891403" cy="1077746"/>
          </a:xfrm>
          <a:prstGeom prst="roundRect">
            <a:avLst>
              <a:gd name="adj" fmla="val 3750"/>
            </a:avLst>
          </a:prstGeom>
          <a:solidFill>
            <a:srgbClr val="F7F9FB"/>
          </a:solidFill>
          <a:ln w="8756">
            <a:solidFill>
              <a:srgbClr val="D5DC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324" y="7193954"/>
            <a:ext cx="4715138" cy="188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7" b="1" spc="185">
                <a:solidFill>
                  <a:srgbClr val="22303F"/>
                </a:solidFill>
                <a:latin typeface="Arial"/>
              </a:rPr>
              <a:t>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324" y="7396031"/>
            <a:ext cx="8514192" cy="148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42" b="0">
                <a:solidFill>
                  <a:srgbClr val="3B4A5E"/>
                </a:solidFill>
                <a:latin typeface="Arial"/>
              </a:rPr>
              <a:t>Programme documents, country As-Is attachments and existing corpus folders</a:t>
            </a:r>
          </a:p>
        </p:txBody>
      </p:sp>
      <p:sp>
        <p:nvSpPr>
          <p:cNvPr id="14" name="Group: Models"/>
          <p:cNvSpPr/>
          <p:nvPr/>
        </p:nvSpPr>
        <p:spPr>
          <a:xfrm>
            <a:off x="9295558" y="1010387"/>
            <a:ext cx="2761724" cy="1212464"/>
          </a:xfrm>
          <a:prstGeom prst="roundRect">
            <a:avLst>
              <a:gd name="adj" fmla="val 7777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3333" y="1077746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Models</a:t>
            </a:r>
          </a:p>
        </p:txBody>
      </p:sp>
      <p:sp>
        <p:nvSpPr>
          <p:cNvPr id="16" name="Group: Evaluation"/>
          <p:cNvSpPr/>
          <p:nvPr/>
        </p:nvSpPr>
        <p:spPr>
          <a:xfrm>
            <a:off x="9295558" y="2384513"/>
            <a:ext cx="2761724" cy="1657034"/>
          </a:xfrm>
          <a:prstGeom prst="roundRect">
            <a:avLst>
              <a:gd name="adj" fmla="val 5691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3333" y="2451872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Evaluation</a:t>
            </a:r>
          </a:p>
        </p:txBody>
      </p:sp>
      <p:sp>
        <p:nvSpPr>
          <p:cNvPr id="18" name="Group: External services"/>
          <p:cNvSpPr/>
          <p:nvPr/>
        </p:nvSpPr>
        <p:spPr>
          <a:xfrm>
            <a:off x="9295558" y="4337927"/>
            <a:ext cx="2761724" cy="1212464"/>
          </a:xfrm>
          <a:prstGeom prst="roundRect">
            <a:avLst>
              <a:gd name="adj" fmla="val 7777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3333" y="4405286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External services</a:t>
            </a:r>
          </a:p>
        </p:txBody>
      </p:sp>
      <p:sp>
        <p:nvSpPr>
          <p:cNvPr id="20" name="Group: Security &amp; guardrails"/>
          <p:cNvSpPr/>
          <p:nvPr/>
        </p:nvSpPr>
        <p:spPr>
          <a:xfrm>
            <a:off x="9295558" y="5712053"/>
            <a:ext cx="2761724" cy="1212464"/>
          </a:xfrm>
          <a:prstGeom prst="roundRect">
            <a:avLst>
              <a:gd name="adj" fmla="val 7777"/>
            </a:avLst>
          </a:prstGeom>
          <a:solidFill>
            <a:srgbClr val="FBFCFE"/>
          </a:solidFill>
          <a:ln w="8756">
            <a:solidFill>
              <a:srgbClr val="C9D1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3333" y="5779412"/>
            <a:ext cx="2546175" cy="16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5" b="1">
                <a:solidFill>
                  <a:srgbClr val="1E2530"/>
                </a:solidFill>
                <a:latin typeface="Arial"/>
              </a:rPr>
              <a:t>Security &amp; guardrails</a:t>
            </a:r>
          </a:p>
        </p:txBody>
      </p:sp>
      <p:cxnSp>
        <p:nvCxnSpPr>
          <p:cNvPr id="22" name="Link 0"/>
          <p:cNvCxnSpPr/>
          <p:nvPr/>
        </p:nvCxnSpPr>
        <p:spPr>
          <a:xfrm>
            <a:off x="4573684" y="835253"/>
            <a:ext cx="0" cy="161662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k 1"/>
          <p:cNvCxnSpPr/>
          <p:nvPr/>
        </p:nvCxnSpPr>
        <p:spPr>
          <a:xfrm flipV="1">
            <a:off x="1044066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nk 2"/>
          <p:cNvCxnSpPr/>
          <p:nvPr/>
        </p:nvCxnSpPr>
        <p:spPr>
          <a:xfrm flipV="1">
            <a:off x="2808875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k 3"/>
          <p:cNvCxnSpPr/>
          <p:nvPr/>
        </p:nvCxnSpPr>
        <p:spPr>
          <a:xfrm flipV="1">
            <a:off x="4573684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k 4"/>
          <p:cNvCxnSpPr/>
          <p:nvPr/>
        </p:nvCxnSpPr>
        <p:spPr>
          <a:xfrm flipV="1">
            <a:off x="6338493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k 5"/>
          <p:cNvCxnSpPr/>
          <p:nvPr/>
        </p:nvCxnSpPr>
        <p:spPr>
          <a:xfrm flipV="1">
            <a:off x="8103302" y="2101604"/>
            <a:ext cx="0" cy="282909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k 6"/>
          <p:cNvCxnSpPr/>
          <p:nvPr/>
        </p:nvCxnSpPr>
        <p:spPr>
          <a:xfrm flipV="1">
            <a:off x="1044066" y="4055019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k 7"/>
          <p:cNvCxnSpPr/>
          <p:nvPr/>
        </p:nvCxnSpPr>
        <p:spPr>
          <a:xfrm flipV="1">
            <a:off x="4573684" y="4055019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k 8"/>
          <p:cNvCxnSpPr/>
          <p:nvPr/>
        </p:nvCxnSpPr>
        <p:spPr>
          <a:xfrm flipV="1">
            <a:off x="6338493" y="4055019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k 9"/>
          <p:cNvCxnSpPr/>
          <p:nvPr/>
        </p:nvCxnSpPr>
        <p:spPr>
          <a:xfrm>
            <a:off x="8103302" y="4041547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k 10"/>
          <p:cNvCxnSpPr/>
          <p:nvPr/>
        </p:nvCxnSpPr>
        <p:spPr>
          <a:xfrm flipV="1">
            <a:off x="1044066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k 11"/>
          <p:cNvCxnSpPr/>
          <p:nvPr/>
        </p:nvCxnSpPr>
        <p:spPr>
          <a:xfrm flipV="1">
            <a:off x="2808875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k 12"/>
          <p:cNvCxnSpPr/>
          <p:nvPr/>
        </p:nvCxnSpPr>
        <p:spPr>
          <a:xfrm flipV="1">
            <a:off x="4573684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k 13"/>
          <p:cNvCxnSpPr/>
          <p:nvPr/>
        </p:nvCxnSpPr>
        <p:spPr>
          <a:xfrm flipV="1">
            <a:off x="6338493" y="5429145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nk 14"/>
          <p:cNvCxnSpPr/>
          <p:nvPr/>
        </p:nvCxnSpPr>
        <p:spPr>
          <a:xfrm flipV="1">
            <a:off x="1044066" y="6803271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k 15"/>
          <p:cNvCxnSpPr/>
          <p:nvPr/>
        </p:nvCxnSpPr>
        <p:spPr>
          <a:xfrm flipV="1">
            <a:off x="4573684" y="6803271"/>
            <a:ext cx="0" cy="282908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k 16"/>
          <p:cNvCxnSpPr/>
          <p:nvPr/>
        </p:nvCxnSpPr>
        <p:spPr>
          <a:xfrm flipV="1">
            <a:off x="1044066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nk 17"/>
          <p:cNvCxnSpPr/>
          <p:nvPr/>
        </p:nvCxnSpPr>
        <p:spPr>
          <a:xfrm flipV="1">
            <a:off x="2808875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ink 18"/>
          <p:cNvCxnSpPr/>
          <p:nvPr/>
        </p:nvCxnSpPr>
        <p:spPr>
          <a:xfrm flipV="1">
            <a:off x="4573684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ink 19"/>
          <p:cNvCxnSpPr/>
          <p:nvPr/>
        </p:nvCxnSpPr>
        <p:spPr>
          <a:xfrm flipV="1">
            <a:off x="6338493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k 20"/>
          <p:cNvCxnSpPr/>
          <p:nvPr/>
        </p:nvCxnSpPr>
        <p:spPr>
          <a:xfrm flipV="1">
            <a:off x="8103302" y="3273653"/>
            <a:ext cx="0" cy="188606"/>
          </a:xfrm>
          <a:prstGeom prst="line">
            <a:avLst/>
          </a:prstGeom>
          <a:ln w="11451">
            <a:solidFill>
              <a:srgbClr val="E4F1F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k 21"/>
          <p:cNvCxnSpPr/>
          <p:nvPr/>
        </p:nvCxnSpPr>
        <p:spPr>
          <a:xfrm>
            <a:off x="1785017" y="6446267"/>
            <a:ext cx="269436" cy="0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k 22"/>
          <p:cNvCxnSpPr/>
          <p:nvPr/>
        </p:nvCxnSpPr>
        <p:spPr>
          <a:xfrm>
            <a:off x="3549825" y="6446267"/>
            <a:ext cx="269437" cy="0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k 23"/>
          <p:cNvCxnSpPr/>
          <p:nvPr/>
        </p:nvCxnSpPr>
        <p:spPr>
          <a:xfrm>
            <a:off x="2808875" y="6682024"/>
            <a:ext cx="0" cy="53888"/>
          </a:xfrm>
          <a:prstGeom prst="line">
            <a:avLst/>
          </a:prstGeom>
          <a:ln w="11451">
            <a:solidFill>
              <a:srgbClr val="6B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k 23"/>
          <p:cNvCxnSpPr/>
          <p:nvPr/>
        </p:nvCxnSpPr>
        <p:spPr>
          <a:xfrm>
            <a:off x="2808875" y="6735912"/>
            <a:ext cx="3260181" cy="0"/>
          </a:xfrm>
          <a:prstGeom prst="line">
            <a:avLst/>
          </a:prstGeom>
          <a:ln w="11451">
            <a:solidFill>
              <a:srgbClr val="6B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k 23"/>
          <p:cNvCxnSpPr/>
          <p:nvPr/>
        </p:nvCxnSpPr>
        <p:spPr>
          <a:xfrm flipV="1">
            <a:off x="6069056" y="6695496"/>
            <a:ext cx="0" cy="40416"/>
          </a:xfrm>
          <a:prstGeom prst="line">
            <a:avLst/>
          </a:prstGeom>
          <a:ln w="11451">
            <a:solidFill>
              <a:srgbClr val="6B85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User (head)"/>
          <p:cNvSpPr/>
          <p:nvPr/>
        </p:nvSpPr>
        <p:spPr>
          <a:xfrm>
            <a:off x="4492853" y="451306"/>
            <a:ext cx="161662" cy="161662"/>
          </a:xfrm>
          <a:prstGeom prst="ellipse">
            <a:avLst/>
          </a:prstGeom>
          <a:solidFill>
            <a:srgbClr val="3B4A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User (body)"/>
          <p:cNvSpPr/>
          <p:nvPr/>
        </p:nvSpPr>
        <p:spPr>
          <a:xfrm>
            <a:off x="4425494" y="633176"/>
            <a:ext cx="296380" cy="1683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4A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Ask RAG"/>
          <p:cNvSpPr/>
          <p:nvPr/>
        </p:nvSpPr>
        <p:spPr>
          <a:xfrm>
            <a:off x="303116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Ask RAG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React 19 · MUI · SSE stream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FastAPI /api/ask</a:t>
            </a:r>
          </a:p>
        </p:txBody>
      </p:sp>
      <p:sp>
        <p:nvSpPr>
          <p:cNvPr id="51" name="Evidence Agent"/>
          <p:cNvSpPr/>
          <p:nvPr/>
        </p:nvSpPr>
        <p:spPr>
          <a:xfrm>
            <a:off x="2067925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Evidence Agent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Claude Opus 5 · tool use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FastAPI /api/evidence · SSE</a:t>
            </a:r>
          </a:p>
        </p:txBody>
      </p:sp>
      <p:sp>
        <p:nvSpPr>
          <p:cNvPr id="52" name="Fit-Gap Copilot"/>
          <p:cNvSpPr/>
          <p:nvPr/>
        </p:nvSpPr>
        <p:spPr>
          <a:xfrm>
            <a:off x="3832734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Fit-Gap Copilot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Claude Opus 5 · WeasyPrint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python-docx · openpyxl</a:t>
            </a:r>
          </a:p>
        </p:txBody>
      </p:sp>
      <p:sp>
        <p:nvSpPr>
          <p:cNvPr id="53" name="InsightLens"/>
          <p:cNvSpPr/>
          <p:nvPr/>
        </p:nvSpPr>
        <p:spPr>
          <a:xfrm>
            <a:off x="5597543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InsightLens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Claude Opus 5 · per BPML step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openpyxl XLSX export</a:t>
            </a:r>
          </a:p>
        </p:txBody>
      </p:sp>
      <p:sp>
        <p:nvSpPr>
          <p:cNvPr id="54" name="Graph Explorer"/>
          <p:cNvSpPr/>
          <p:nvPr/>
        </p:nvSpPr>
        <p:spPr>
          <a:xfrm>
            <a:off x="7362351" y="1508844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7FA7C0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Graph Explorer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D3 canvas · Neo4j Browser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Cypher over Bolt</a:t>
            </a:r>
          </a:p>
        </p:txBody>
      </p:sp>
      <p:sp>
        <p:nvSpPr>
          <p:cNvPr id="55" name="Grounding &amp; verification"/>
          <p:cNvSpPr/>
          <p:nvPr/>
        </p:nvSpPr>
        <p:spPr>
          <a:xfrm>
            <a:off x="296380" y="2882970"/>
            <a:ext cx="8554608" cy="377211"/>
          </a:xfrm>
          <a:prstGeom prst="roundRect">
            <a:avLst>
              <a:gd name="adj" fmla="val 17857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Grounding &amp; verification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Anthropic Messages API (Claude Opus 5) · cited answers · character-level quote verifier (Python) · computed confidence scores</a:t>
            </a:r>
          </a:p>
        </p:txBody>
      </p:sp>
      <p:sp>
        <p:nvSpPr>
          <p:cNvPr id="56" name="Upload search"/>
          <p:cNvSpPr/>
          <p:nvPr/>
        </p:nvSpPr>
        <p:spPr>
          <a:xfrm>
            <a:off x="303116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Upload search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psycopg · pgvector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schema per upload session</a:t>
            </a:r>
          </a:p>
        </p:txBody>
      </p:sp>
      <p:sp>
        <p:nvSpPr>
          <p:cNvPr id="57" name="Gated web search"/>
          <p:cNvSpPr/>
          <p:nvPr/>
        </p:nvSpPr>
        <p:spPr>
          <a:xfrm>
            <a:off x="2067925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Gated web search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Anthropic web_search tool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Claude Sonnet 5 · allow-list</a:t>
            </a:r>
          </a:p>
        </p:txBody>
      </p:sp>
      <p:sp>
        <p:nvSpPr>
          <p:cNvPr id="58" name="Hybrid search"/>
          <p:cNvSpPr/>
          <p:nvPr/>
        </p:nvSpPr>
        <p:spPr>
          <a:xfrm>
            <a:off x="3832734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Hybrid search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pgvector HNSW + tsvector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RRF fusion · psycopg 3</a:t>
            </a:r>
          </a:p>
        </p:txBody>
      </p:sp>
      <p:sp>
        <p:nvSpPr>
          <p:cNvPr id="59" name="Graph traversal"/>
          <p:cNvSpPr/>
          <p:nvPr/>
        </p:nvSpPr>
        <p:spPr>
          <a:xfrm>
            <a:off x="5597543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Graph traversal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in-memory graph (Python)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NL → Cypher: Claude Opus 5</a:t>
            </a:r>
          </a:p>
        </p:txBody>
      </p:sp>
      <p:sp>
        <p:nvSpPr>
          <p:cNvPr id="60" name="Memory recall"/>
          <p:cNvSpPr/>
          <p:nvPr/>
        </p:nvSpPr>
        <p:spPr>
          <a:xfrm>
            <a:off x="7362351" y="3462259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3FAFA"/>
          </a:solidFill>
          <a:ln w="10103">
            <a:solidFill>
              <a:srgbClr val="5FA3A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Memory recall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hindsight-client (HTTP)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Hindsight API :8888</a:t>
            </a:r>
          </a:p>
        </p:txBody>
      </p:sp>
      <p:sp>
        <p:nvSpPr>
          <p:cNvPr id="61" name="Upload sessions"/>
          <p:cNvSpPr/>
          <p:nvPr/>
        </p:nvSpPr>
        <p:spPr>
          <a:xfrm>
            <a:off x="303116" y="4816177"/>
            <a:ext cx="1481901" cy="579288"/>
          </a:xfrm>
          <a:prstGeom prst="can">
            <a:avLst>
              <a:gd name="adj" fmla="val 12000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Upload sessions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PostgreSQL 18 · pgvector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docling_session database</a:t>
            </a:r>
          </a:p>
        </p:txBody>
      </p:sp>
      <p:sp>
        <p:nvSpPr>
          <p:cNvPr id="62" name="Document corpus"/>
          <p:cNvSpPr/>
          <p:nvPr/>
        </p:nvSpPr>
        <p:spPr>
          <a:xfrm>
            <a:off x="2067925" y="4816177"/>
            <a:ext cx="1481901" cy="579288"/>
          </a:xfrm>
          <a:prstGeom prst="foldedCorner">
            <a:avLst/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Document corpus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Markdown files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disk · Docker volume</a:t>
            </a:r>
          </a:p>
        </p:txBody>
      </p:sp>
      <p:sp>
        <p:nvSpPr>
          <p:cNvPr id="63" name="Vector &amp; keyword index"/>
          <p:cNvSpPr/>
          <p:nvPr/>
        </p:nvSpPr>
        <p:spPr>
          <a:xfrm>
            <a:off x="3832734" y="4816177"/>
            <a:ext cx="1481901" cy="579288"/>
          </a:xfrm>
          <a:prstGeom prst="can">
            <a:avLst>
              <a:gd name="adj" fmla="val 12000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Vector &amp; keyword index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PostgreSQL 18 + pgvector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HNSW cosine · tsvector</a:t>
            </a:r>
          </a:p>
        </p:txBody>
      </p:sp>
      <p:sp>
        <p:nvSpPr>
          <p:cNvPr id="64" name="Process knowledge graph"/>
          <p:cNvSpPr/>
          <p:nvPr/>
        </p:nvSpPr>
        <p:spPr>
          <a:xfrm>
            <a:off x="5597543" y="4816177"/>
            <a:ext cx="1481901" cy="579288"/>
          </a:xfrm>
          <a:prstGeom prst="can">
            <a:avLst>
              <a:gd name="adj" fmla="val 12000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Process knowledge graph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JSON file · Neo4j 5 + APOC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Bolt :7687 · neo4j driver</a:t>
            </a:r>
          </a:p>
        </p:txBody>
      </p:sp>
      <p:sp>
        <p:nvSpPr>
          <p:cNvPr id="65" name="Agent memory"/>
          <p:cNvSpPr/>
          <p:nvPr/>
        </p:nvSpPr>
        <p:spPr>
          <a:xfrm>
            <a:off x="7362351" y="4816177"/>
            <a:ext cx="1481901" cy="579288"/>
          </a:xfrm>
          <a:prstGeom prst="roundRect">
            <a:avLst>
              <a:gd name="adj" fmla="val 11627"/>
            </a:avLst>
          </a:prstGeom>
          <a:solidFill>
            <a:srgbClr val="F5F7FA"/>
          </a:solidFill>
          <a:ln w="10103">
            <a:solidFill>
              <a:srgbClr val="8EA2B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Agent memory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Hindsight · embedded Postgres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LiteLLM → Claude</a:t>
            </a:r>
          </a:p>
        </p:txBody>
      </p:sp>
      <p:sp>
        <p:nvSpPr>
          <p:cNvPr id="66" name="Convert to Markdown"/>
          <p:cNvSpPr/>
          <p:nvPr/>
        </p:nvSpPr>
        <p:spPr>
          <a:xfrm>
            <a:off x="303116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Convert to Markdown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Docling · Tesseract · OpenCV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LibreOffice · Poppler · VLM</a:t>
            </a:r>
          </a:p>
        </p:txBody>
      </p:sp>
      <p:sp>
        <p:nvSpPr>
          <p:cNvPr id="67" name="Curate &amp; publish"/>
          <p:cNvSpPr/>
          <p:nvPr/>
        </p:nvSpPr>
        <p:spPr>
          <a:xfrm>
            <a:off x="2067925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Curate &amp; publish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FastAPI · React UI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category in front matter</a:t>
            </a:r>
          </a:p>
        </p:txBody>
      </p:sp>
      <p:sp>
        <p:nvSpPr>
          <p:cNvPr id="68" name="Chunk &amp; embed"/>
          <p:cNvSpPr/>
          <p:nvPr/>
        </p:nvSpPr>
        <p:spPr>
          <a:xfrm>
            <a:off x="3832734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Chunk &amp; embed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Markdown chunker (Python)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Ollama bge-m3 · 1024-d</a:t>
            </a:r>
          </a:p>
        </p:txBody>
      </p:sp>
      <p:sp>
        <p:nvSpPr>
          <p:cNvPr id="69" name="Build knowledge graph"/>
          <p:cNvSpPr/>
          <p:nvPr/>
        </p:nvSpPr>
        <p:spPr>
          <a:xfrm>
            <a:off x="5597543" y="6210510"/>
            <a:ext cx="1481901" cy="47151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103">
            <a:solidFill>
              <a:srgbClr val="AAB6C5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Build knowledge graph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Python rules + ontology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openpyxl (BPML) · neo4j</a:t>
            </a:r>
          </a:p>
        </p:txBody>
      </p:sp>
      <p:sp>
        <p:nvSpPr>
          <p:cNvPr id="70" name="Documents"/>
          <p:cNvSpPr/>
          <p:nvPr/>
        </p:nvSpPr>
        <p:spPr>
          <a:xfrm>
            <a:off x="303116" y="7557693"/>
            <a:ext cx="1481901" cy="525401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0103">
            <a:solidFill>
              <a:srgbClr val="B9C3CF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Documents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PDF · Word · PowerPoint · Excel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HTML · XML · CSV · TXT · e-mail</a:t>
            </a:r>
          </a:p>
        </p:txBody>
      </p:sp>
      <p:sp>
        <p:nvSpPr>
          <p:cNvPr id="71" name="Existing corpus folders"/>
          <p:cNvSpPr/>
          <p:nvPr/>
        </p:nvSpPr>
        <p:spPr>
          <a:xfrm>
            <a:off x="3832734" y="7557693"/>
            <a:ext cx="1481901" cy="525401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0103">
            <a:solidFill>
              <a:srgbClr val="B9C3CF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Existing corpus folders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Markdown (PKG · DR)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indexed from the CLI</a:t>
            </a:r>
          </a:p>
        </p:txBody>
      </p:sp>
      <p:sp>
        <p:nvSpPr>
          <p:cNvPr id="72" name="Anthropic Claude"/>
          <p:cNvSpPr/>
          <p:nvPr/>
        </p:nvSpPr>
        <p:spPr>
          <a:xfrm>
            <a:off x="9564994" y="1252880"/>
            <a:ext cx="2222851" cy="350267"/>
          </a:xfrm>
          <a:prstGeom prst="roundRect">
            <a:avLst>
              <a:gd name="adj" fmla="val 50000"/>
            </a:avLst>
          </a:prstGeom>
          <a:solidFill>
            <a:srgbClr val="2F2F33"/>
          </a:solidFill>
          <a:ln w="10103">
            <a:solidFill>
              <a:srgbClr val="111111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FFFFFF"/>
                </a:solidFill>
                <a:latin typeface="Arial"/>
              </a:rPr>
              <a:t>Anthropic Claude</a:t>
            </a:r>
          </a:p>
          <a:p>
            <a:pPr algn="ctr"/>
            <a:r>
              <a:rPr sz="662" b="0">
                <a:solidFill>
                  <a:srgbClr val="D6D6DA"/>
                </a:solidFill>
                <a:latin typeface="Arial"/>
              </a:rPr>
              <a:t>Opus 5 · Sonnet 5 · Haiku 4.5</a:t>
            </a:r>
          </a:p>
        </p:txBody>
      </p:sp>
      <p:sp>
        <p:nvSpPr>
          <p:cNvPr id="73" name="Ollama (local)"/>
          <p:cNvSpPr/>
          <p:nvPr/>
        </p:nvSpPr>
        <p:spPr>
          <a:xfrm>
            <a:off x="9564994" y="1724393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EAF7F7"/>
          </a:solidFill>
          <a:ln w="10103">
            <a:solidFill>
              <a:srgbClr val="3F9A9A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Ollama (local)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bge-m3 · HTTP :11434</a:t>
            </a:r>
          </a:p>
        </p:txBody>
      </p:sp>
      <p:sp>
        <p:nvSpPr>
          <p:cNvPr id="74" name="RAG Evaluation"/>
          <p:cNvSpPr/>
          <p:nvPr/>
        </p:nvSpPr>
        <p:spPr>
          <a:xfrm>
            <a:off x="9564994" y="2640477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FF0F3"/>
          </a:solidFill>
          <a:ln w="10103">
            <a:solidFill>
              <a:srgbClr val="C9546E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RAG Evaluation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Ragas · Claude Sonnet 5 judge</a:t>
            </a:r>
          </a:p>
        </p:txBody>
      </p:sp>
      <p:sp>
        <p:nvSpPr>
          <p:cNvPr id="75" name="Agent Evaluation"/>
          <p:cNvSpPr/>
          <p:nvPr/>
        </p:nvSpPr>
        <p:spPr>
          <a:xfrm>
            <a:off x="9564994" y="3058104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FF0F3"/>
          </a:solidFill>
          <a:ln w="10103">
            <a:solidFill>
              <a:srgbClr val="C9546E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Agent Evaluation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pure Python · Langfuse scores</a:t>
            </a:r>
          </a:p>
        </p:txBody>
      </p:sp>
      <p:sp>
        <p:nvSpPr>
          <p:cNvPr id="76" name="Graph Evaluation"/>
          <p:cNvSpPr/>
          <p:nvPr/>
        </p:nvSpPr>
        <p:spPr>
          <a:xfrm>
            <a:off x="9564994" y="3475730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FF0F3"/>
          </a:solidFill>
          <a:ln w="10103">
            <a:solidFill>
              <a:srgbClr val="C9546E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Graph Evaluation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Python checks · Neo4j · Claude</a:t>
            </a:r>
          </a:p>
        </p:txBody>
      </p:sp>
      <p:sp>
        <p:nvSpPr>
          <p:cNvPr id="77" name="Langfuse Cloud"/>
          <p:cNvSpPr/>
          <p:nvPr/>
        </p:nvSpPr>
        <p:spPr>
          <a:xfrm>
            <a:off x="9564994" y="4580420"/>
            <a:ext cx="2222851" cy="350267"/>
          </a:xfrm>
          <a:prstGeom prst="roundRect">
            <a:avLst>
              <a:gd name="adj" fmla="val 50000"/>
            </a:avLst>
          </a:prstGeom>
          <a:solidFill>
            <a:srgbClr val="2F2F33"/>
          </a:solidFill>
          <a:ln w="10103">
            <a:solidFill>
              <a:srgbClr val="111111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FFFFFF"/>
                </a:solidFill>
                <a:latin typeface="Arial"/>
              </a:rPr>
              <a:t>Langfuse Cloud</a:t>
            </a:r>
          </a:p>
          <a:p>
            <a:pPr algn="ctr"/>
            <a:r>
              <a:rPr sz="662" b="0">
                <a:solidFill>
                  <a:srgbClr val="D6D6DA"/>
                </a:solidFill>
                <a:latin typeface="Arial"/>
              </a:rPr>
              <a:t>OpenTelemetry · traces · scores</a:t>
            </a:r>
          </a:p>
        </p:txBody>
      </p:sp>
      <p:sp>
        <p:nvSpPr>
          <p:cNvPr id="78" name="Web (allow-listed)"/>
          <p:cNvSpPr/>
          <p:nvPr/>
        </p:nvSpPr>
        <p:spPr>
          <a:xfrm>
            <a:off x="9564994" y="5051934"/>
            <a:ext cx="2222851" cy="350267"/>
          </a:xfrm>
          <a:prstGeom prst="roundRect">
            <a:avLst>
              <a:gd name="adj" fmla="val 50000"/>
            </a:avLst>
          </a:prstGeom>
          <a:solidFill>
            <a:srgbClr val="2F2F33"/>
          </a:solidFill>
          <a:ln w="10103">
            <a:solidFill>
              <a:srgbClr val="111111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FFFFFF"/>
                </a:solidFill>
                <a:latin typeface="Arial"/>
              </a:rPr>
              <a:t>Web (allow-listed)</a:t>
            </a:r>
          </a:p>
          <a:p>
            <a:pPr algn="ctr"/>
            <a:r>
              <a:rPr sz="662" b="0">
                <a:solidFill>
                  <a:srgbClr val="D6D6DA"/>
                </a:solidFill>
                <a:latin typeface="Arial"/>
              </a:rPr>
              <a:t>Anthropic web_search · SAP · EU</a:t>
            </a:r>
          </a:p>
        </p:txBody>
      </p:sp>
      <p:sp>
        <p:nvSpPr>
          <p:cNvPr id="79" name="Sign-in"/>
          <p:cNvSpPr/>
          <p:nvPr/>
        </p:nvSpPr>
        <p:spPr>
          <a:xfrm>
            <a:off x="9564994" y="5954546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1F5F9"/>
          </a:solidFill>
          <a:ln w="10103">
            <a:solidFill>
              <a:srgbClr val="64748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Sign-in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HMAC cookie · FastAPI router</a:t>
            </a:r>
          </a:p>
        </p:txBody>
      </p:sp>
      <p:sp>
        <p:nvSpPr>
          <p:cNvPr id="80" name="Guardrails"/>
          <p:cNvSpPr/>
          <p:nvPr/>
        </p:nvSpPr>
        <p:spPr>
          <a:xfrm>
            <a:off x="9564994" y="6426060"/>
            <a:ext cx="2222851" cy="350267"/>
          </a:xfrm>
          <a:prstGeom prst="roundRect">
            <a:avLst>
              <a:gd name="adj" fmla="val 19230"/>
            </a:avLst>
          </a:prstGeom>
          <a:solidFill>
            <a:srgbClr val="F1F5F9"/>
          </a:solidFill>
          <a:ln w="10103">
            <a:solidFill>
              <a:srgbClr val="64748B"/>
            </a:solidFill>
          </a:ln>
          <a:effectLst/>
        </p:spPr>
        <p:txBody>
          <a:bodyPr rtlCol="0" anchor="ctr" wrap="square" lIns="26944" rIns="26944" tIns="26944" bIns="26944"/>
          <a:lstStyle/>
          <a:p>
            <a:pPr algn="ctr"/>
            <a:r>
              <a:rPr sz="795" b="1">
                <a:solidFill>
                  <a:srgbClr val="1E2530"/>
                </a:solidFill>
                <a:latin typeface="Arial"/>
              </a:rPr>
              <a:t>Guardrails</a:t>
            </a:r>
          </a:p>
          <a:p>
            <a:pPr algn="ctr"/>
            <a:r>
              <a:rPr sz="662" b="0">
                <a:solidFill>
                  <a:srgbClr val="4A5563"/>
                </a:solidFill>
                <a:latin typeface="Arial"/>
              </a:rPr>
              <a:t>ASGI middleware · Claude Haiku</a:t>
            </a:r>
          </a:p>
        </p:txBody>
      </p:sp>
      <p:sp>
        <p:nvSpPr>
          <p:cNvPr id="81" name="Legend"/>
          <p:cNvSpPr/>
          <p:nvPr/>
        </p:nvSpPr>
        <p:spPr>
          <a:xfrm>
            <a:off x="9295558" y="7086179"/>
            <a:ext cx="2761724" cy="633176"/>
          </a:xfrm>
          <a:prstGeom prst="roundRect">
            <a:avLst>
              <a:gd name="adj" fmla="val 10638"/>
            </a:avLst>
          </a:prstGeom>
          <a:solidFill>
            <a:srgbClr val="F8FAFC"/>
          </a:solidFill>
          <a:ln w="6735">
            <a:solidFill>
              <a:srgbClr val="D5DCE4"/>
            </a:solidFill>
          </a:ln>
          <a:effectLst/>
        </p:spPr>
        <p:txBody>
          <a:bodyPr rtlCol="0" anchor="ctr" wrap="square" lIns="107775" rIns="107775" tIns="107775" bIns="107775"/>
          <a:lstStyle/>
          <a:p>
            <a:pPr algn="l"/>
            <a:r>
              <a:rPr sz="662" b="0">
                <a:solidFill>
                  <a:srgbClr val="4A5563"/>
                </a:solidFill>
                <a:latin typeface="Arial"/>
              </a:rPr>
              <a:t>Arrows = data / request flow, sources → consumption</a:t>
            </a:r>
          </a:p>
          <a:p>
            <a:pPr algn="l"/>
            <a:r>
              <a:rPr sz="662" b="0">
                <a:solidFill>
                  <a:srgbClr val="4A5563"/>
                </a:solidFill>
                <a:latin typeface="Arial"/>
              </a:rPr>
              <a:t>Dark boxes = cloud services · side panel = cross-cutting</a:t>
            </a:r>
          </a:p>
          <a:p>
            <a:pPr algn="l"/>
            <a:r>
              <a:rPr sz="662" b="0">
                <a:solidFill>
                  <a:srgbClr val="4A5563"/>
                </a:solidFill>
                <a:latin typeface="Arial"/>
              </a:rPr>
              <a:t>Runtime: Python 3.12 · FastAPI · Uvicorn</a:t>
            </a:r>
          </a:p>
          <a:p>
            <a:pPr algn="l"/>
            <a:r>
              <a:rPr sz="662" b="0">
                <a:solidFill>
                  <a:srgbClr val="4A5563"/>
                </a:solidFill>
                <a:latin typeface="Arial"/>
              </a:rPr>
              <a:t>React 19 + Vite 8 · Docker Compose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
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530"/>
                </a:solidFill>
                <a:latin typeface="Arial"/>
              </a:rPr>
              <a:t>Solvay Spark Spine AI — Tech Stack</a:t>
            </a:r>
          </a:p>
        </p:txBody>
      </p:sp>
      <p:graphicFrame>
        <p:nvGraphicFramePr>
          <p:cNvPr id="3" name="Tech stack"/>
          <p:cNvGraphicFramePr>
            <a:graphicFrameLocks noGrp="1"/>
          </p:cNvGraphicFramePr>
          <p:nvPr/>
        </p:nvGraphicFramePr>
        <p:xfrm>
          <a:off x="274320" y="868680"/>
          <a:ext cx="11612880" cy="5468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303520"/>
                <a:gridCol w="411480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anchor="ctr" marL="109728" marR="109728">
                    <a:solidFill>
                      <a:srgbClr val="1E25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Technologies</a:t>
                      </a:r>
                    </a:p>
                  </a:txBody>
                  <a:tcPr anchor="ctr" marL="109728" marR="109728">
                    <a:solidFill>
                      <a:srgbClr val="1E25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Used for</a:t>
                      </a:r>
                    </a:p>
                  </a:txBody>
                  <a:tcPr anchor="ctr" marL="109728" marR="109728">
                    <a:solidFill>
                      <a:srgbClr val="1E253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Frontend</a:t>
                      </a:r>
                    </a:p>
                  </a:txBody>
                  <a:tcPr anchor="ctr" marL="109728" marR="109728">
                    <a:solidFill>
                      <a:srgbClr val="2230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530"/>
                          </a:solidFill>
                          <a:latin typeface="Arial"/>
                        </a:rPr>
                        <a:t>React · TypeScript · Vite · Material UI · D3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3"/>
                          </a:solidFill>
                          <a:latin typeface="Arial"/>
                        </a:rPr>
                        <a:t>Web app and Demo Mode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Backend / API</a:t>
                      </a:r>
                    </a:p>
                  </a:txBody>
                  <a:tcPr anchor="ctr" marL="109728" marR="109728">
                    <a:solidFill>
                      <a:srgbClr val="2230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530"/>
                          </a:solidFill>
                          <a:latin typeface="Arial"/>
                        </a:rPr>
                        <a:t>Python · FastAPI · Uvicorn</a:t>
                      </a:r>
                    </a:p>
                  </a:txBody>
                  <a:tcPr anchor="ctr" marL="109728" marR="109728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3"/>
                          </a:solidFill>
                          <a:latin typeface="Arial"/>
                        </a:rPr>
                        <a:t>REST and streaming API</a:t>
                      </a:r>
                    </a:p>
                  </a:txBody>
                  <a:tcPr anchor="ctr" marL="109728" marR="109728">
                    <a:solidFill>
                      <a:srgbClr val="F6F8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AI agents</a:t>
                      </a:r>
                    </a:p>
                  </a:txBody>
                  <a:tcPr anchor="ctr" marL="109728" marR="109728">
                    <a:solidFill>
                      <a:srgbClr val="4A8C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530"/>
                          </a:solidFill>
                          <a:latin typeface="Arial"/>
                        </a:rPr>
                        <a:t>Anthropic SDK (tool use) · Hindsight memory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3"/>
                          </a:solidFill>
                          <a:latin typeface="Arial"/>
                        </a:rPr>
                        <a:t>Evidence Agent, Fit-Gap Copilot, InsightLens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Retrieval (RAG)</a:t>
                      </a:r>
                    </a:p>
                  </a:txBody>
                  <a:tcPr anchor="ctr" marL="109728" marR="109728">
                    <a:solidFill>
                      <a:srgbClr val="4A8C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530"/>
                          </a:solidFill>
                          <a:latin typeface="Arial"/>
                        </a:rPr>
                        <a:t>Hybrid search: pgvector + PostgreSQL full-text</a:t>
                      </a:r>
                    </a:p>
                  </a:txBody>
                  <a:tcPr anchor="ctr" marL="109728" marR="109728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3"/>
                          </a:solidFill>
                          <a:latin typeface="Arial"/>
                        </a:rPr>
                        <a:t>Grounded, cited answers</a:t>
                      </a:r>
                    </a:p>
                  </a:txBody>
                  <a:tcPr anchor="ctr" marL="109728" marR="109728">
                    <a:solidFill>
                      <a:srgbClr val="F6F8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Knowledge graph</a:t>
                      </a:r>
                    </a:p>
                  </a:txBody>
                  <a:tcPr anchor="ctr" marL="109728" marR="109728">
                    <a:solidFill>
                      <a:srgbClr val="4A8C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530"/>
                          </a:solidFill>
                          <a:latin typeface="Arial"/>
                        </a:rPr>
                        <a:t>Python graph builder · Neo4j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3"/>
                          </a:solidFill>
                          <a:latin typeface="Arial"/>
                        </a:rPr>
                        <a:t>Process graph and Cypher queries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AI models</a:t>
                      </a:r>
                    </a:p>
                  </a:txBody>
                  <a:tcPr anchor="ctr" marL="109728" marR="109728">
                    <a:solidFill>
                      <a:srgbClr val="2F2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530"/>
                          </a:solidFill>
                          <a:latin typeface="Arial"/>
                        </a:rPr>
                        <a:t>Anthropic Claude (LLM) · Ollama bge-m3 (embeddings)</a:t>
                      </a:r>
                    </a:p>
                  </a:txBody>
                  <a:tcPr anchor="ctr" marL="109728" marR="109728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3"/>
                          </a:solidFill>
                          <a:latin typeface="Arial"/>
                        </a:rPr>
                        <a:t>Reasoning, answers, embeddings</a:t>
                      </a:r>
                    </a:p>
                  </a:txBody>
                  <a:tcPr anchor="ctr" marL="109728" marR="109728">
                    <a:solidFill>
                      <a:srgbClr val="F6F8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Data &amp; storage</a:t>
                      </a:r>
                    </a:p>
                  </a:txBody>
                  <a:tcPr anchor="ctr" marL="109728" marR="109728">
                    <a:solidFill>
                      <a:srgbClr val="3B4A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530"/>
                          </a:solidFill>
                          <a:latin typeface="Arial"/>
                        </a:rPr>
                        <a:t>PostgreSQL + pgvector · Neo4j · Markdown files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3"/>
                          </a:solidFill>
                          <a:latin typeface="Arial"/>
                        </a:rPr>
                        <a:t>Chunks, vectors, graph, run history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2303F"/>
                          </a:solidFill>
                          <a:latin typeface="Arial"/>
                        </a:rPr>
                        <a:t>Ingestion</a:t>
                      </a:r>
                    </a:p>
                  </a:txBody>
                  <a:tcPr anchor="ctr" marL="109728" marR="109728">
                    <a:solidFill>
                      <a:srgbClr val="E3E8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530"/>
                          </a:solidFill>
                          <a:latin typeface="Arial"/>
                        </a:rPr>
                        <a:t>Docling · Tesseract OCR · OpenCV · LibreOffice</a:t>
                      </a:r>
                    </a:p>
                  </a:txBody>
                  <a:tcPr anchor="ctr" marL="109728" marR="109728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3"/>
                          </a:solidFill>
                          <a:latin typeface="Arial"/>
                        </a:rPr>
                        <a:t>Documents → Markdown</a:t>
                      </a:r>
                    </a:p>
                  </a:txBody>
                  <a:tcPr anchor="ctr" marL="109728" marR="109728">
                    <a:solidFill>
                      <a:srgbClr val="F6F8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Evaluation</a:t>
                      </a:r>
                    </a:p>
                  </a:txBody>
                  <a:tcPr anchor="ctr" marL="109728" marR="109728">
                    <a:solidFill>
                      <a:srgbClr val="C954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530"/>
                          </a:solidFill>
                          <a:latin typeface="Arial"/>
                        </a:rPr>
                        <a:t>Ragas · custom agent and graph checks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3"/>
                          </a:solidFill>
                          <a:latin typeface="Arial"/>
                        </a:rPr>
                        <a:t>Answer, agent and graph quality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Observability</a:t>
                      </a:r>
                    </a:p>
                  </a:txBody>
                  <a:tcPr anchor="ctr" marL="109728" marR="109728">
                    <a:solidFill>
                      <a:srgbClr val="2F2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530"/>
                          </a:solidFill>
                          <a:latin typeface="Arial"/>
                        </a:rPr>
                        <a:t>Langfuse · OpenTelemetry</a:t>
                      </a:r>
                    </a:p>
                  </a:txBody>
                  <a:tcPr anchor="ctr" marL="109728" marR="109728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3"/>
                          </a:solidFill>
                          <a:latin typeface="Arial"/>
                        </a:rPr>
                        <a:t>Traces and quality scores</a:t>
                      </a:r>
                    </a:p>
                  </a:txBody>
                  <a:tcPr anchor="ctr" marL="109728" marR="109728">
                    <a:solidFill>
                      <a:srgbClr val="F6F8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Security</a:t>
                      </a:r>
                    </a:p>
                  </a:txBody>
                  <a:tcPr anchor="ctr" marL="109728" marR="109728">
                    <a:solidFill>
                      <a:srgbClr val="64748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530"/>
                          </a:solidFill>
                          <a:latin typeface="Arial"/>
                        </a:rPr>
                        <a:t>Session sign-in · guardrails (scope check, redaction)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3"/>
                          </a:solidFill>
                          <a:latin typeface="Arial"/>
                        </a:rPr>
                        <a:t>Access and safe answers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Deployment</a:t>
                      </a:r>
                    </a:p>
                  </a:txBody>
                  <a:tcPr anchor="ctr" marL="109728" marR="109728">
                    <a:solidFill>
                      <a:srgbClr val="5B6B7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530"/>
                          </a:solidFill>
                          <a:latin typeface="Arial"/>
                        </a:rPr>
                        <a:t>Docker · Docker Compose</a:t>
                      </a:r>
                    </a:p>
                  </a:txBody>
                  <a:tcPr anchor="ctr" marL="109728" marR="109728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A5563"/>
                          </a:solidFill>
                          <a:latin typeface="Arial"/>
                        </a:rPr>
                        <a:t>Packaging and running the stack</a:t>
                      </a:r>
                    </a:p>
                  </a:txBody>
                  <a:tcPr anchor="ctr" marL="109728" marR="109728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